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7" r:id="rId6"/>
    <p:sldId id="298" r:id="rId7"/>
    <p:sldId id="279" r:id="rId8"/>
    <p:sldId id="280" r:id="rId9"/>
    <p:sldId id="292" r:id="rId10"/>
    <p:sldId id="293" r:id="rId11"/>
    <p:sldId id="294" r:id="rId12"/>
    <p:sldId id="278" r:id="rId13"/>
    <p:sldId id="284" r:id="rId14"/>
    <p:sldId id="299" r:id="rId15"/>
    <p:sldId id="300" r:id="rId16"/>
    <p:sldId id="301" r:id="rId17"/>
    <p:sldId id="295" r:id="rId18"/>
    <p:sldId id="296" r:id="rId19"/>
    <p:sldId id="297" r:id="rId20"/>
    <p:sldId id="276" r:id="rId21"/>
    <p:sldId id="281" r:id="rId22"/>
    <p:sldId id="290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AB70D-DB27-3852-3D67-33FE749D3848}" v="4" dt="2025-05-22T21:25:40.923"/>
    <p1510:client id="{17B07238-4FFA-4B11-9E53-9CF1901344CB}" v="446" dt="2025-05-23T10:07:27.044"/>
    <p1510:client id="{50883688-D3C9-D505-23FE-A2A4A6735C29}" v="6" dt="2025-05-22T21:15:48.577"/>
    <p1510:client id="{6DD013C0-2F27-E4FB-0B6A-DE0E06B2DBAB}" v="59" dt="2025-05-22T21:24:47.619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59" y="42"/>
      </p:cViewPr>
      <p:guideLst>
        <p:guide orient="horz" pos="792"/>
        <p:guide pos="3144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32" y="2807805"/>
            <a:ext cx="6856292" cy="2932043"/>
          </a:xfrm>
        </p:spPr>
        <p:txBody>
          <a:bodyPr>
            <a:normAutofit/>
          </a:bodyPr>
          <a:lstStyle/>
          <a:p>
            <a:pPr algn="r"/>
            <a:r>
              <a:rPr lang="en-US" sz="3600"/>
              <a:t>Mechatronics system engineering</a:t>
            </a:r>
            <a:br>
              <a:rPr lang="en-US" sz="3600"/>
            </a:br>
            <a:br>
              <a:rPr lang="en-US" sz="2400">
                <a:solidFill>
                  <a:srgbClr val="FFC000"/>
                </a:solidFill>
                <a:latin typeface="+mn-lt"/>
              </a:rPr>
            </a:br>
            <a:r>
              <a:rPr lang="en-US" sz="2400">
                <a:latin typeface="+mn-lt"/>
              </a:rPr>
              <a:t>team 3</a:t>
            </a:r>
            <a:endParaRPr lang="en-US" sz="36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1F8FB-E946-794A-3AEA-A1479ED18A24}"/>
              </a:ext>
            </a:extLst>
          </p:cNvPr>
          <p:cNvSpPr txBox="1"/>
          <p:nvPr/>
        </p:nvSpPr>
        <p:spPr>
          <a:xfrm>
            <a:off x="3384274" y="2180846"/>
            <a:ext cx="85016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rgbClr val="FFC000"/>
                </a:solidFill>
                <a:latin typeface="+mn-lt"/>
              </a:rPr>
              <a:t>ADAS SYSTEM WITH CARLA</a:t>
            </a:r>
            <a:endParaRPr lang="en-US" sz="4800" b="1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C0C4CD-FFBA-C87F-5D2A-08BB3CFB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0D98-D606-42B6-0870-A133883F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A cartoon of a person running on a road&#10;&#10;AI-generated content may be incorrect., Picture">
            <a:extLst>
              <a:ext uri="{FF2B5EF4-FFF2-40B4-BE49-F238E27FC236}">
                <a16:creationId xmlns:a16="http://schemas.microsoft.com/office/drawing/2014/main" id="{450E2DE5-F848-27D4-72BE-30229068C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48" y="2781549"/>
            <a:ext cx="3529012" cy="187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cartoon of cars in a parking lot&#10;&#10;AI-generated content may be incorrect., Picture">
            <a:extLst>
              <a:ext uri="{FF2B5EF4-FFF2-40B4-BE49-F238E27FC236}">
                <a16:creationId xmlns:a16="http://schemas.microsoft.com/office/drawing/2014/main" id="{35F1B86C-248B-3EDF-D019-12EE53E6C923}"/>
              </a:ext>
            </a:extLst>
          </p:cNvPr>
          <p:cNvPicPr>
            <a:picLocks noGrp="1" noChangeAspect="1" noChangeArrowheads="1"/>
          </p:cNvPicPr>
          <p:nvPr>
            <p:ph type="tbl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093" y="2781549"/>
            <a:ext cx="3395913" cy="169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car on a crosswalk&#10;&#10;AI-generated content may be incorrect., Picture">
            <a:extLst>
              <a:ext uri="{FF2B5EF4-FFF2-40B4-BE49-F238E27FC236}">
                <a16:creationId xmlns:a16="http://schemas.microsoft.com/office/drawing/2014/main" id="{D0846609-8BAB-1BC8-44E4-D15566F2D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875" y="2465070"/>
            <a:ext cx="4385019" cy="219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751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DA6E-E953-4906-9505-22B0E5BE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D9A68-B75C-6129-CD60-F65CED05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" y="299765"/>
            <a:ext cx="4514628" cy="5428929"/>
          </a:xfrm>
        </p:spPr>
        <p:txBody>
          <a:bodyPr/>
          <a:lstStyle/>
          <a:p>
            <a:r>
              <a:rPr lang="en-US"/>
              <a:t>CONSENS – Environment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CFCDC-A5EA-CF11-2FCA-1B8EC662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5AE8ADE4-8B3F-1B31-3E84-4E2489ED7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781" y="304800"/>
            <a:ext cx="724852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4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9E4B-5608-5E08-52F1-2B1D27A7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F7A-AFED-B8F0-9FB0-1EBB794E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" y="432287"/>
            <a:ext cx="4028714" cy="5009277"/>
          </a:xfrm>
        </p:spPr>
        <p:txBody>
          <a:bodyPr/>
          <a:lstStyle/>
          <a:p>
            <a:r>
              <a:rPr lang="en-US"/>
              <a:t>CONSENS – Application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AF201-B14C-D65F-D304-0E077A96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A diagram of a road&#10;&#10;AI-generated content may be incorrect.">
            <a:extLst>
              <a:ext uri="{FF2B5EF4-FFF2-40B4-BE49-F238E27FC236}">
                <a16:creationId xmlns:a16="http://schemas.microsoft.com/office/drawing/2014/main" id="{A6FCAAB6-49CF-0DF5-5B72-2B637C8E0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598" y="471327"/>
            <a:ext cx="7356255" cy="590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7C98-15EE-19E3-6944-4E9CCE7B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9FD9-1F55-9344-2D60-324AC109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3"/>
            <a:ext cx="10665845" cy="724408"/>
          </a:xfrm>
        </p:spPr>
        <p:txBody>
          <a:bodyPr/>
          <a:lstStyle/>
          <a:p>
            <a:r>
              <a:rPr lang="en-US"/>
              <a:t>CONSENS – requirement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0D9E2-2857-C52A-5409-A95D40F0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C7E3076-DEA5-EDD3-DAD1-99449D9BF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37" y="2077798"/>
            <a:ext cx="11616725" cy="398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5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DB29-5F4C-DB04-C37A-3D0596AF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361F-3CCC-0307-6C50-8F10764A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571" y="4716"/>
            <a:ext cx="10177015" cy="911313"/>
          </a:xfrm>
        </p:spPr>
        <p:txBody>
          <a:bodyPr>
            <a:normAutofit/>
          </a:bodyPr>
          <a:lstStyle/>
          <a:p>
            <a:r>
              <a:rPr lang="en-US"/>
              <a:t>CONSENS – active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40271-683C-C8E2-075B-B4FFC113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3AE0850F-53DE-7152-A94B-A844D026D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41" y="805131"/>
            <a:ext cx="8926420" cy="60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B049-1DD6-22B1-9712-D95A7F22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0726-51DD-DF1C-92FA-B63963AD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193" y="263509"/>
            <a:ext cx="10177015" cy="911313"/>
          </a:xfrm>
        </p:spPr>
        <p:txBody>
          <a:bodyPr>
            <a:normAutofit/>
          </a:bodyPr>
          <a:lstStyle/>
          <a:p>
            <a:r>
              <a:rPr lang="en-US"/>
              <a:t>CONSENS – function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4797E-D9A6-0DAE-28D9-B15E39B0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 descr="A diagram of a function&#10;&#10;AI-generated content may be incorrect.">
            <a:extLst>
              <a:ext uri="{FF2B5EF4-FFF2-40B4-BE49-F238E27FC236}">
                <a16:creationId xmlns:a16="http://schemas.microsoft.com/office/drawing/2014/main" id="{AAC713FE-CCFD-C05C-34EF-97B7710D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3" y="1488416"/>
            <a:ext cx="1168717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5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ADAE-93F4-B0C1-4B1D-8A5008EB0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30" y="398273"/>
            <a:ext cx="10665845" cy="942848"/>
          </a:xfrm>
        </p:spPr>
        <p:txBody>
          <a:bodyPr/>
          <a:lstStyle/>
          <a:p>
            <a:r>
              <a:rPr lang="en-US"/>
              <a:t>Mechatronics UML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7D342-37A9-3528-F188-2BA9C46F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550E44C6-5476-0439-1581-C74C8C594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95" y="1895296"/>
            <a:ext cx="5497003" cy="4375748"/>
          </a:xfrm>
          <a:prstGeom prst="rect">
            <a:avLst/>
          </a:prstGeom>
        </p:spPr>
      </p:pic>
      <p:pic>
        <p:nvPicPr>
          <p:cNvPr id="7" name="Picture 6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627CA3B7-B110-E25F-D7DE-7542FE658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169" y="1438813"/>
            <a:ext cx="5013025" cy="529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87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F80C-D38E-F4F4-5555-E3945E81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8251-0641-6E88-9B26-63F4E201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30" y="398273"/>
            <a:ext cx="10665845" cy="942848"/>
          </a:xfrm>
        </p:spPr>
        <p:txBody>
          <a:bodyPr/>
          <a:lstStyle/>
          <a:p>
            <a:r>
              <a:rPr lang="en-US"/>
              <a:t>Mechatronics UML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613C4-5BA0-EDAD-97F9-2E3474BE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DB04C0B9-40E2-2DAB-B269-01DFEA66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548" y="1121433"/>
            <a:ext cx="6392707" cy="57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0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1C7D-96ED-A57A-EAB3-6F9D61C9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Trained model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0FCEC-7C82-A199-4FBC-A9E09859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0" name="Picture 2" descr="Picture 457091585, Picture">
            <a:extLst>
              <a:ext uri="{FF2B5EF4-FFF2-40B4-BE49-F238E27FC236}">
                <a16:creationId xmlns:a16="http://schemas.microsoft.com/office/drawing/2014/main" id="{A8448AC9-9263-081D-3CFB-BE3A29DC6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31"/>
          <a:stretch/>
        </p:blipFill>
        <p:spPr bwMode="auto">
          <a:xfrm>
            <a:off x="5916544" y="2429978"/>
            <a:ext cx="4621213" cy="348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457091585, Picture">
            <a:extLst>
              <a:ext uri="{FF2B5EF4-FFF2-40B4-BE49-F238E27FC236}">
                <a16:creationId xmlns:a16="http://schemas.microsoft.com/office/drawing/2014/main" id="{EAB9A0BA-7764-4421-4E6C-C9FD0A933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70"/>
          <a:stretch/>
        </p:blipFill>
        <p:spPr bwMode="auto">
          <a:xfrm>
            <a:off x="837648" y="2429978"/>
            <a:ext cx="4621213" cy="336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34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F6F4D-F87C-BA03-641D-B2E319D7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074" name="Picture 2" descr="Picture 1339951339, Picture">
            <a:extLst>
              <a:ext uri="{FF2B5EF4-FFF2-40B4-BE49-F238E27FC236}">
                <a16:creationId xmlns:a16="http://schemas.microsoft.com/office/drawing/2014/main" id="{FDFE91C7-2221-A1AC-8BE4-ACC624D95439}"/>
              </a:ext>
            </a:extLst>
          </p:cNvPr>
          <p:cNvPicPr>
            <a:picLocks noGrp="1" noChangeAspect="1" noChangeArrowheads="1"/>
          </p:cNvPicPr>
          <p:nvPr>
            <p:ph type="tbl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270" y="1453668"/>
            <a:ext cx="7400595" cy="430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CD5DE27-B7DD-A063-F293-2F9AF87671D0}"/>
              </a:ext>
            </a:extLst>
          </p:cNvPr>
          <p:cNvSpPr txBox="1">
            <a:spLocks/>
          </p:cNvSpPr>
          <p:nvPr/>
        </p:nvSpPr>
        <p:spPr>
          <a:xfrm>
            <a:off x="901647" y="621129"/>
            <a:ext cx="1066584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Trained model results</a:t>
            </a:r>
          </a:p>
        </p:txBody>
      </p:sp>
    </p:spTree>
    <p:extLst>
      <p:ext uri="{BB962C8B-B14F-4D97-AF65-F5344CB8AC3E}">
        <p14:creationId xmlns:p14="http://schemas.microsoft.com/office/powerpoint/2010/main" val="8582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2A7D-A0D9-A52B-383B-0E25D218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testing – real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71F65-AB8C-2454-2ED8-B0AA80AA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098" name="Picture 2" descr="Picture 398453843, Picture">
            <a:extLst>
              <a:ext uri="{FF2B5EF4-FFF2-40B4-BE49-F238E27FC236}">
                <a16:creationId xmlns:a16="http://schemas.microsoft.com/office/drawing/2014/main" id="{036A5A4E-710D-1441-7E41-F2FE22C162E4}"/>
              </a:ext>
            </a:extLst>
          </p:cNvPr>
          <p:cNvPicPr>
            <a:picLocks noGrp="1" noChangeAspect="1" noChangeArrowheads="1"/>
          </p:cNvPicPr>
          <p:nvPr>
            <p:ph type="tbl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65" y="2417763"/>
            <a:ext cx="5246807" cy="282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342960509, Picture">
            <a:extLst>
              <a:ext uri="{FF2B5EF4-FFF2-40B4-BE49-F238E27FC236}">
                <a16:creationId xmlns:a16="http://schemas.microsoft.com/office/drawing/2014/main" id="{979168BB-71C8-7771-8501-227A26F04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316" y="2417764"/>
            <a:ext cx="5260826" cy="282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03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840D-2A5F-62CA-13D5-3E78965B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UPPAAL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9A0E5-9584-0F47-7E35-4935D6C0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11CD15-09DE-C251-AB87-4C863E89A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78" y="2116634"/>
            <a:ext cx="9107316" cy="310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46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722C3-C06B-820F-76BD-BD9677B0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A9D723-9575-9385-08CF-4E885161D56F}"/>
              </a:ext>
            </a:extLst>
          </p:cNvPr>
          <p:cNvSpPr txBox="1">
            <a:spLocks/>
          </p:cNvSpPr>
          <p:nvPr/>
        </p:nvSpPr>
        <p:spPr>
          <a:xfrm>
            <a:off x="759530" y="962024"/>
            <a:ext cx="1066584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+mn-lt"/>
              </a:rPr>
              <a:t>UPPAAL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D6278-9068-3802-8B28-BAFF0C82B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30" y="2660304"/>
            <a:ext cx="5772150" cy="2790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98EEC-D368-E145-C508-FA5E7A599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361" y="1525243"/>
            <a:ext cx="5439976" cy="2693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1A034D-853C-DF7B-BC7D-E526EB598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361" y="4323107"/>
            <a:ext cx="5439975" cy="233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59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0BC5-2003-F118-F858-B720EC71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UPPAAL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7BDFC-3DC9-6718-93A4-7AE06F6F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074A6-3F39-383C-5FBC-66737B891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617" y="2213115"/>
            <a:ext cx="6229350" cy="1485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90D41-B4DE-A5E4-244D-1EE1EE690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617" y="5064814"/>
            <a:ext cx="3467100" cy="1409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C6ADE5-C549-0D50-CCE1-C37FB43EE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617" y="3779907"/>
            <a:ext cx="4000500" cy="1143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772E7A-CB93-6376-44B7-C4343038D0FB}"/>
              </a:ext>
            </a:extLst>
          </p:cNvPr>
          <p:cNvSpPr txBox="1"/>
          <p:nvPr/>
        </p:nvSpPr>
        <p:spPr>
          <a:xfrm>
            <a:off x="951915" y="2358649"/>
            <a:ext cx="2471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Functional Properties: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A5293-D11A-2791-E3DE-315CD4C4899E}"/>
              </a:ext>
            </a:extLst>
          </p:cNvPr>
          <p:cNvSpPr txBox="1"/>
          <p:nvPr/>
        </p:nvSpPr>
        <p:spPr>
          <a:xfrm>
            <a:off x="951915" y="4022522"/>
            <a:ext cx="2005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Safety Properties: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5C31F4-ACCB-D141-581D-EB6CC35707CA}"/>
              </a:ext>
            </a:extLst>
          </p:cNvPr>
          <p:cNvSpPr txBox="1"/>
          <p:nvPr/>
        </p:nvSpPr>
        <p:spPr>
          <a:xfrm>
            <a:off x="951914" y="5317063"/>
            <a:ext cx="2005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Safety Properties: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61FA4-B39C-42EE-8A08-9D55205E959D}"/>
              </a:ext>
            </a:extLst>
          </p:cNvPr>
          <p:cNvSpPr txBox="1"/>
          <p:nvPr/>
        </p:nvSpPr>
        <p:spPr>
          <a:xfrm>
            <a:off x="7227919" y="5501729"/>
            <a:ext cx="4356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00B0F0"/>
                </a:solidFill>
              </a:rPr>
              <a:t>=&gt; The system never enters Stopped state unless speed is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DCE78-1DCE-B779-46D4-3934C82370B2}"/>
              </a:ext>
            </a:extLst>
          </p:cNvPr>
          <p:cNvSpPr txBox="1"/>
          <p:nvPr/>
        </p:nvSpPr>
        <p:spPr>
          <a:xfrm>
            <a:off x="7640707" y="4166741"/>
            <a:ext cx="3734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=&gt; Speed never goes negative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083869-EFEC-C98E-9349-27038738CC72}"/>
              </a:ext>
            </a:extLst>
          </p:cNvPr>
          <p:cNvSpPr txBox="1"/>
          <p:nvPr/>
        </p:nvSpPr>
        <p:spPr>
          <a:xfrm>
            <a:off x="9719145" y="2817999"/>
            <a:ext cx="2593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=&gt; Deadlock free</a:t>
            </a:r>
          </a:p>
        </p:txBody>
      </p:sp>
    </p:spTree>
    <p:extLst>
      <p:ext uri="{BB962C8B-B14F-4D97-AF65-F5344CB8AC3E}">
        <p14:creationId xmlns:p14="http://schemas.microsoft.com/office/powerpoint/2010/main" val="3616712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D62CB0-E0B2-23B4-EEF9-545D330B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52029F-8D93-E192-4950-3D316288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3832-F47A-AC4A-CFDE-C07DEF02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3"/>
            <a:ext cx="10665845" cy="724408"/>
          </a:xfrm>
        </p:spPr>
        <p:txBody>
          <a:bodyPr/>
          <a:lstStyle/>
          <a:p>
            <a:r>
              <a:rPr lang="en-US"/>
              <a:t>CONSENS – application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DA39B-F372-5D45-3296-C71E9466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D958B28E-A08F-DFD7-D0FB-4C737FEB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2108439"/>
            <a:ext cx="120777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21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302978-6E9E-EDE9-60C4-CC0C279C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ECF5-01F5-AFC9-17D6-BC249C109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3"/>
            <a:ext cx="10665845" cy="724408"/>
          </a:xfrm>
        </p:spPr>
        <p:txBody>
          <a:bodyPr/>
          <a:lstStyle/>
          <a:p>
            <a:r>
              <a:rPr lang="en-US"/>
              <a:t>CONSENS – application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B21C7-47AD-85BE-8580-E466B234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D941B0-5350-E485-EB81-6DF41BC8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826374"/>
            <a:ext cx="119253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64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29E5FA-F5C1-DA8A-D4CE-53A771A8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04CB-A7E6-CE04-F63C-9A2C03DB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3"/>
            <a:ext cx="10665845" cy="724408"/>
          </a:xfrm>
        </p:spPr>
        <p:txBody>
          <a:bodyPr/>
          <a:lstStyle/>
          <a:p>
            <a:r>
              <a:rPr lang="en-US"/>
              <a:t>CONSENS – application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E1711-9FB4-034B-F3F3-9FFEB04A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 descr="A close-up of a application&#10;&#10;AI-generated content may be incorrect.">
            <a:extLst>
              <a:ext uri="{FF2B5EF4-FFF2-40B4-BE49-F238E27FC236}">
                <a16:creationId xmlns:a16="http://schemas.microsoft.com/office/drawing/2014/main" id="{5665882B-1F57-EF7E-9076-8D99F574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286"/>
            <a:ext cx="12192000" cy="396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776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{473755FC-7C28-4FF0-ABFD-7B483877E460}tf33968143_win32</Template>
  <TotalTime>4</TotalTime>
  <Words>115</Words>
  <Application>Microsoft Office PowerPoint</Application>
  <PresentationFormat>Widescreen</PresentationFormat>
  <Paragraphs>49</Paragraphs>
  <Slides>20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Avenir Next LT Pro</vt:lpstr>
      <vt:lpstr>Calibri</vt:lpstr>
      <vt:lpstr>Custom</vt:lpstr>
      <vt:lpstr>Mechatronics system engineering  team 3</vt:lpstr>
      <vt:lpstr>Agenda</vt:lpstr>
      <vt:lpstr>Scenarios</vt:lpstr>
      <vt:lpstr>CONSENS – Environment model</vt:lpstr>
      <vt:lpstr>CONSENS – Application SCENARIOs</vt:lpstr>
      <vt:lpstr>CONSENS – requirement model</vt:lpstr>
      <vt:lpstr>CONSENS – active structure</vt:lpstr>
      <vt:lpstr>CONSENS – function model</vt:lpstr>
      <vt:lpstr>Mechatronics UML</vt:lpstr>
      <vt:lpstr>Mechatronics UML</vt:lpstr>
      <vt:lpstr>Trained model results</vt:lpstr>
      <vt:lpstr>PowerPoint Presentation</vt:lpstr>
      <vt:lpstr>Model testing – real dataset</vt:lpstr>
      <vt:lpstr>UPPAAL</vt:lpstr>
      <vt:lpstr>PowerPoint Presentation</vt:lpstr>
      <vt:lpstr>UPPAAL</vt:lpstr>
      <vt:lpstr>THANK YOU</vt:lpstr>
      <vt:lpstr>CONSENS – application scenarios</vt:lpstr>
      <vt:lpstr>CONSENS – application scenarios</vt:lpstr>
      <vt:lpstr>CONSENS – application scenarios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Phuc Le Quang</dc:creator>
  <cp:lastModifiedBy>Phuc Le Quang</cp:lastModifiedBy>
  <cp:revision>2</cp:revision>
  <dcterms:created xsi:type="dcterms:W3CDTF">2025-05-21T20:48:37Z</dcterms:created>
  <dcterms:modified xsi:type="dcterms:W3CDTF">2025-05-26T08:38:05Z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